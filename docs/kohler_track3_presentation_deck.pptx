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4754880" cy="4754880"/>
          </a:xfrm>
          <a:prstGeom prst="ellipse">
            <a:avLst/>
          </a:prstGeom>
          <a:solidFill>
            <a:srgbClr val="0B5A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291840" cy="3291840"/>
          </a:xfrm>
          <a:prstGeom prst="ellipse">
            <a:avLst/>
          </a:prstGeom>
          <a:solidFill>
            <a:srgbClr val="1C8C9E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474720" cy="3474720"/>
          </a:xfrm>
          <a:prstGeom prst="ellipse">
            <a:avLst/>
          </a:prstGeom>
          <a:solidFill>
            <a:srgbClr val="3FB6A8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KOHLER–MITWPU AI RESEARCH LAB PROGRAM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KOHLER Unified Enterprise AI Agent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grounded conversational agent that answers HR, finance, support and privacy questions — then formats the answer any way the business needs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3FB6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343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ENTERPRISE AI AGENT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4937760" cy="0"/>
          </a:xfrm>
          <a:prstGeom prst="line">
            <a:avLst/>
          </a:prstGeom>
          <a:noFill/>
          <a:ln w="12700">
            <a:solidFill>
              <a:srgbClr val="3E55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486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Uttam</a:t>
            </a:r>
            <a:pPr indent="0" marL="0">
              <a:buNone/>
            </a:pPr>
            <a:r>
              <a:rPr lang="en-US" sz="130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Individual Case Study Submission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4  —  Overview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– MITWPU AI Research Lab · Track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three-node LangGraph pipeline keeps every answer grounded, and lets output format be decided at run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88920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842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B5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RETRIEVE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32888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question + recent turns; cosine-ranks knowledge-base chunks; keeps only matches above a relevance threshold.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92424" y="2729484"/>
            <a:ext cx="393192" cy="256032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1783080"/>
            <a:ext cx="2788920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41648" y="19842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C8C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41648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REASON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41648" y="2532888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(Ollama) answers strictly from retrieved context; resolves follow-ups like “draft the mail for this” using the prior turn.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84264" y="2729484"/>
            <a:ext cx="393192" cy="256032"/>
          </a:xfrm>
          <a:prstGeom prst="rightArrow">
            <a:avLst/>
          </a:prstGeom>
          <a:solidFill>
            <a:srgbClr val="5B6B84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1783080"/>
            <a:ext cx="2788920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19842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FB6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33488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FORMAT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2532888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Deterministically renders the draft as Markdown, JSON, XML, CSV or a ready-to-send email — formatting never depends on the model alone.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292608" cy="292608"/>
          </a:xfrm>
          <a:prstGeom prst="ellipse">
            <a:avLst/>
          </a:prstGeom>
          <a:solidFill>
            <a:srgbClr val="0B5A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4261104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&amp; private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3659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Ollama on one machine — no HR/finance document ever leaves the device, no API key.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096512" y="4297680"/>
            <a:ext cx="292608" cy="292608"/>
          </a:xfrm>
          <a:prstGeom prst="ellipse">
            <a:avLst/>
          </a:prstGeom>
          <a:solidFill>
            <a:srgbClr val="1C8C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09651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35424" y="4261104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guessed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96512" y="473659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flags “NO_RELIABLE_SOURCE_MATCH” when nothing relevant exists; the model is told to say so, not invent policy.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44384" y="4297680"/>
            <a:ext cx="292608" cy="2926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44384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83296" y="4261104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output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44384" y="473659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conversation, many outputs: JSON for a system, an email draft for a manager, an Excel/PDF file to download.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4  —  Approach &amp; Architecture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– MITWPU AI Research Lab · Track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Core Capabilities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Python package — nine single-purpose modules behind one Streamlit UI.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91440" cy="91440"/>
          </a:xfrm>
          <a:prstGeom prst="ellipse">
            <a:avLst/>
          </a:prstGeom>
          <a:solidFill>
            <a:srgbClr val="1C8C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LangChain-core (retrieve → reason → format state graph)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91440" cy="91440"/>
          </a:xfrm>
          <a:prstGeom prst="ellipse">
            <a:avLst/>
          </a:prstGeom>
          <a:solidFill>
            <a:srgbClr val="1C8C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91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runtime — qwen2.5:3b (chat) + nomic-embed-text (embeddings)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99816"/>
            <a:ext cx="91440" cy="91440"/>
          </a:xfrm>
          <a:prstGeom prst="ellipse">
            <a:avLst/>
          </a:prstGeom>
          <a:solidFill>
            <a:srgbClr val="1C8C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626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cosine-similarity semantic index (dependency-light, swappable)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91440" cy="91440"/>
          </a:xfrm>
          <a:prstGeom prst="ellipse">
            <a:avLst/>
          </a:prstGeom>
          <a:solidFill>
            <a:srgbClr val="1C8C9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5661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UI with live source citations and per-answer downloads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91440" cy="91440"/>
          </a:xfrm>
          <a:prstGeom prst="ellipse">
            <a:avLst/>
          </a:prstGeom>
          <a:solidFill>
            <a:srgbClr val="1C8C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1696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engine: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python-docx, openpyxl, reportlab → DOCX / XLSX / PDF / JSON / XML / CSV / ZIP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828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7FA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3912" y="197510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5A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5391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53912" y="239572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knowledge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53912" y="268833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finance, customer support and privacy documents indexed side by side.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23960" y="1828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7FA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88552" y="197510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C8C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8855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88552" y="239572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988552" y="268833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persists locally; the agent resolves “this / that / the previous answer.”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7FA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53912" y="36210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53912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53912" y="404164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on demand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153912" y="433425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“as JSON” or “draft the email” mid-chat — no need to touch a setting.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7FA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88552" y="36210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5A8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988552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988552" y="404164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988552" y="433425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pytest cases + a dependency-free self-test cover every non-LLM code path.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4  —  Tech Stack &amp; Capabilities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– MITWPU AI Research Lab · Track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931920"/>
            <a:ext cx="4206240" cy="4206240"/>
          </a:xfrm>
          <a:prstGeom prst="ellipse">
            <a:avLst/>
          </a:prstGeom>
          <a:solidFill>
            <a:srgbClr val="0B5A8A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Pitch &amp; Impact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deterministic formatting layer on top of a grounded local RAG pipeline is the differentiator.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EVALUATION CRITERIA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Innovation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6035040" cy="256032"/>
          </a:xfrm>
          <a:prstGeom prst="roundRect">
            <a:avLst>
              <a:gd name="adj" fmla="val 17857"/>
            </a:avLst>
          </a:prstGeom>
          <a:solidFill>
            <a:srgbClr val="2C3D5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331720"/>
            <a:ext cx="5190134" cy="256032"/>
          </a:xfrm>
          <a:prstGeom prst="roundRect">
            <a:avLst>
              <a:gd name="adj" fmla="val 17857"/>
            </a:avLst>
          </a:prstGeom>
          <a:solidFill>
            <a:srgbClr val="3FB6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6243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+ deterministic re-formatting layer, not prompt-and-hope output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04495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319272"/>
            <a:ext cx="6035040" cy="256032"/>
          </a:xfrm>
          <a:prstGeom prst="roundRect">
            <a:avLst>
              <a:gd name="adj" fmla="val 17857"/>
            </a:avLst>
          </a:prstGeom>
          <a:solidFill>
            <a:srgbClr val="2C3D5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3319272"/>
            <a:ext cx="4828032" cy="256032"/>
          </a:xfrm>
          <a:prstGeom prst="roundRect">
            <a:avLst>
              <a:gd name="adj" fmla="val 17857"/>
            </a:avLst>
          </a:prstGeom>
          <a:solidFill>
            <a:srgbClr val="3FB6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6118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9-module package, 11 automated tests, self-test runs without any LLM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03250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Feasibility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306824"/>
            <a:ext cx="6035040" cy="256032"/>
          </a:xfrm>
          <a:prstGeom prst="roundRect">
            <a:avLst>
              <a:gd name="adj" fmla="val 17857"/>
            </a:avLst>
          </a:prstGeom>
          <a:solidFill>
            <a:srgbClr val="2C3D5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306824"/>
            <a:ext cx="4707331" cy="256032"/>
          </a:xfrm>
          <a:prstGeom prst="roundRect">
            <a:avLst>
              <a:gd name="adj" fmla="val 17857"/>
            </a:avLst>
          </a:prstGeom>
          <a:solidFill>
            <a:srgbClr val="3FB6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5994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Streamlit chat; runs on a laptop behind any corporate firewall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502005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Sustainability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5294376"/>
            <a:ext cx="6035040" cy="256032"/>
          </a:xfrm>
          <a:prstGeom prst="roundRect">
            <a:avLst>
              <a:gd name="adj" fmla="val 17857"/>
            </a:avLst>
          </a:prstGeom>
          <a:solidFill>
            <a:srgbClr val="2C3D5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5294376"/>
            <a:ext cx="4345229" cy="256032"/>
          </a:xfrm>
          <a:prstGeom prst="roundRect">
            <a:avLst>
              <a:gd name="adj" fmla="val 17857"/>
            </a:avLst>
          </a:prstGeom>
          <a:solidFill>
            <a:srgbClr val="3FB6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58698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inference cost; keeps sensitive HR/finance data on-device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1031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2311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domains: HR, finance, support, privacy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063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7+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319125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formats: MD / JSON / XML / CSV / email / DOCX / XLSX / PDF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023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15137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calls — fully local inference via Ollama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4  —  Innovation &amp; Impact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KOHLER – MITWPU AI Research Lab · Track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2026-09-06T05:28:22Z</dcterms:created>
  <dcterms:modified xsi:type="dcterms:W3CDTF">2026-09-06T05:28:22Z</dcterms:modified>
</cp:coreProperties>
</file>